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Quattrocento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QuattrocentoSans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Quattrocento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a443031d_2_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f5a443031d_2_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f5a443031d_2_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5a443031d_2_1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f5a443031d_2_1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f5a443031d_2_1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5a443031d_2_5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5a443031d_2_5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5a443031d_2_5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a443031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f5a443031d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5a443031d_2_13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f5a443031d_2_13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5a443031d_2_13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5a443031d_2_17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f5a443031d_2_17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f5a443031d_2_17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5a443031d_2_20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f5a443031d_2_20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5a443031d_2_20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5a443031d_2_24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f5a443031d_2_24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5a443031d_2_24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5a443031d_2_26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f5a443031d_2_26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f5a443031d_2_26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5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342909" y="1131570"/>
            <a:ext cx="5829455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NeuroAccess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342909" y="1988820"/>
            <a:ext cx="5006473" cy="233172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2700">
            <a:solidFill>
              <a:srgbClr val="E3E7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6"/>
          <p:cNvSpPr/>
          <p:nvPr/>
        </p:nvSpPr>
        <p:spPr>
          <a:xfrm>
            <a:off x="582946" y="2160270"/>
            <a:ext cx="45264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03B"/>
                </a:solidFill>
                <a:latin typeface="Calibri"/>
                <a:ea typeface="Calibri"/>
                <a:cs typeface="Calibri"/>
                <a:sym typeface="Calibri"/>
              </a:rPr>
              <a:t>TEAM NAME: COFI.EXE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582946" y="2503170"/>
            <a:ext cx="4526401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TEAM MEMBERS: PRATISHTHA MEHRA (TEAM LEAD)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PRATHAM JAIN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VAIBHAV CHATURVEDI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SIMRAT OBEROI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582946" y="3463290"/>
            <a:ext cx="4526401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03B"/>
                </a:solidFill>
                <a:latin typeface="Calibri"/>
                <a:ea typeface="Calibri"/>
                <a:cs typeface="Calibri"/>
                <a:sym typeface="Calibri"/>
              </a:rPr>
              <a:t>DOMAIN: Hack F</a:t>
            </a:r>
            <a:r>
              <a:rPr b="1" lang="en" sz="1000">
                <a:solidFill>
                  <a:srgbClr val="13203B"/>
                </a:solidFill>
                <a:latin typeface="Calibri"/>
                <a:ea typeface="Calibri"/>
                <a:cs typeface="Calibri"/>
                <a:sym typeface="Calibri"/>
              </a:rPr>
              <a:t>or Good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582946" y="3737610"/>
            <a:ext cx="45264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03B"/>
                </a:solidFill>
                <a:latin typeface="Calibri"/>
                <a:ea typeface="Calibri"/>
                <a:cs typeface="Calibri"/>
                <a:sym typeface="Calibri"/>
              </a:rPr>
              <a:t>COLLEGE: MAHARAJA SURAJMAL INSTITUTE OF TECHNOLOGY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342909" y="4896612"/>
            <a:ext cx="20574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NeuroAccess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7772378" y="4896612"/>
            <a:ext cx="102872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16" title="Untitled - 19 July 2026 at 23.58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55" y="137175"/>
            <a:ext cx="891534" cy="8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6" title="ChatGPT Image Jul 20, 2026, 12_19_02 AM.png"/>
          <p:cNvPicPr preferRelativeResize="0"/>
          <p:nvPr/>
        </p:nvPicPr>
        <p:blipFill rotWithShape="1">
          <a:blip r:embed="rId4">
            <a:alphaModFix/>
          </a:blip>
          <a:srcRect b="0" l="0" r="22155" t="0"/>
          <a:stretch/>
        </p:blipFill>
        <p:spPr>
          <a:xfrm>
            <a:off x="5416675" y="557700"/>
            <a:ext cx="3918225" cy="4028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644669" y="267462"/>
            <a:ext cx="16459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NeuroAccess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342909" y="788670"/>
            <a:ext cx="1268764" cy="246888"/>
          </a:xfrm>
          <a:prstGeom prst="roundRect">
            <a:avLst>
              <a:gd fmla="val 50000" name="adj"/>
            </a:avLst>
          </a:prstGeom>
          <a:solidFill>
            <a:srgbClr val="EAF0FD"/>
          </a:solidFill>
          <a:ln cap="flat" cmpd="sng" w="12700">
            <a:solidFill>
              <a:srgbClr val="CDD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342909" y="788670"/>
            <a:ext cx="12687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6EE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06EE5"/>
                </a:solidFill>
                <a:latin typeface="Calibri"/>
                <a:ea typeface="Calibri"/>
                <a:cs typeface="Calibri"/>
                <a:sym typeface="Calibri"/>
              </a:rPr>
              <a:t>Chrome Extension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1680255" y="788670"/>
            <a:ext cx="1165891" cy="246888"/>
          </a:xfrm>
          <a:prstGeom prst="roundRect">
            <a:avLst>
              <a:gd fmla="val 50000" name="adj"/>
            </a:avLst>
          </a:prstGeom>
          <a:solidFill>
            <a:srgbClr val="EAF0FD"/>
          </a:solidFill>
          <a:ln cap="flat" cmpd="sng" w="12700">
            <a:solidFill>
              <a:srgbClr val="CDD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1680255" y="788670"/>
            <a:ext cx="116589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6EE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06EE5"/>
                </a:solidFill>
                <a:latin typeface="Calibri"/>
                <a:ea typeface="Calibri"/>
                <a:cs typeface="Calibri"/>
                <a:sym typeface="Calibri"/>
              </a:rPr>
              <a:t>FastAPI Backend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2914728" y="788670"/>
            <a:ext cx="1268764" cy="246888"/>
          </a:xfrm>
          <a:prstGeom prst="roundRect">
            <a:avLst>
              <a:gd fmla="val 50000" name="adj"/>
            </a:avLst>
          </a:prstGeom>
          <a:solidFill>
            <a:srgbClr val="EAF0FD"/>
          </a:solidFill>
          <a:ln cap="flat" cmpd="sng" w="12700">
            <a:solidFill>
              <a:srgbClr val="CDDB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2914728" y="788670"/>
            <a:ext cx="126876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6EE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06EE5"/>
                </a:solidFill>
                <a:latin typeface="Calibri"/>
                <a:ea typeface="Calibri"/>
                <a:cs typeface="Calibri"/>
                <a:sym typeface="Calibri"/>
              </a:rPr>
              <a:t>Privacy by Design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342909" y="1200150"/>
            <a:ext cx="4526401" cy="1440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Privacy-first,</a:t>
            </a:r>
            <a:br>
              <a:rPr b="1" i="0" lang="en" sz="26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2600" u="none" cap="none" strike="noStrike">
                <a:solidFill>
                  <a:srgbClr val="406EE5"/>
                </a:solidFill>
                <a:latin typeface="Arial"/>
                <a:ea typeface="Arial"/>
                <a:cs typeface="Arial"/>
                <a:sym typeface="Arial"/>
              </a:rPr>
              <a:t>one-click accessibility</a:t>
            </a:r>
            <a:br>
              <a:rPr b="1" i="0" lang="en" sz="2600" u="none" cap="none" strike="noStrike">
                <a:solidFill>
                  <a:srgbClr val="406EE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26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for the whole web.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342901" y="2708900"/>
            <a:ext cx="40485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1100"/>
              <a:buFont typeface="Calibri"/>
              <a:buNone/>
            </a:pPr>
            <a:r>
              <a:rPr b="0" i="0" lang="en" sz="12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A browser extension that removes accessibility barriers in seconds — for low vision, blind, color vision deficiency, dyslexia, and motor or cognitive challenges.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325759" y="3771920"/>
            <a:ext cx="1303200" cy="377100"/>
          </a:xfrm>
          <a:prstGeom prst="roundRect">
            <a:avLst>
              <a:gd fmla="val 50000" name="adj"/>
            </a:avLst>
          </a:prstGeom>
          <a:solidFill>
            <a:srgbClr val="E4F2F2"/>
          </a:solidFill>
          <a:ln cap="flat" cmpd="sng" w="12700">
            <a:solidFill>
              <a:srgbClr val="C3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325759" y="3771920"/>
            <a:ext cx="130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A3A3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BA3A3"/>
                </a:solidFill>
                <a:latin typeface="Calibri"/>
                <a:ea typeface="Calibri"/>
                <a:cs typeface="Calibri"/>
                <a:sym typeface="Calibri"/>
              </a:rPr>
              <a:t>✓ AA contrast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5177928" y="788670"/>
            <a:ext cx="3634837" cy="3429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E3E7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5177928" y="788670"/>
            <a:ext cx="3634837" cy="342900"/>
          </a:xfrm>
          <a:prstGeom prst="roundRect">
            <a:avLst>
              <a:gd fmla="val 24000" name="adj"/>
            </a:avLst>
          </a:prstGeom>
          <a:solidFill>
            <a:srgbClr val="EFF3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5349383" y="925830"/>
            <a:ext cx="68582" cy="68580"/>
          </a:xfrm>
          <a:prstGeom prst="ellipse">
            <a:avLst/>
          </a:prstGeom>
          <a:solidFill>
            <a:srgbClr val="E1E5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5541412" y="925830"/>
            <a:ext cx="68582" cy="68580"/>
          </a:xfrm>
          <a:prstGeom prst="ellipse">
            <a:avLst/>
          </a:prstGeom>
          <a:solidFill>
            <a:srgbClr val="E1E5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5733441" y="925830"/>
            <a:ext cx="68582" cy="68580"/>
          </a:xfrm>
          <a:prstGeom prst="ellipse">
            <a:avLst/>
          </a:prstGeom>
          <a:solidFill>
            <a:srgbClr val="E1E5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6000910" y="877824"/>
            <a:ext cx="2606109" cy="16459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6069492" y="877824"/>
            <a:ext cx="246894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your-website.com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5417964" y="1303020"/>
            <a:ext cx="3154764" cy="1303020"/>
          </a:xfrm>
          <a:prstGeom prst="roundRect">
            <a:avLst>
              <a:gd fmla="val 5263" name="adj"/>
            </a:avLst>
          </a:prstGeom>
          <a:solidFill>
            <a:srgbClr val="EFF3FB"/>
          </a:solidFill>
          <a:ln cap="flat" cmpd="sng" w="19050">
            <a:solidFill>
              <a:srgbClr val="CDDBF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6755310" y="1611630"/>
            <a:ext cx="480073" cy="48006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6755310" y="1611630"/>
            <a:ext cx="48007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🖼️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5555128" y="2297430"/>
            <a:ext cx="2880437" cy="274320"/>
          </a:xfrm>
          <a:prstGeom prst="roundRect">
            <a:avLst>
              <a:gd fmla="val 50000" name="adj"/>
            </a:avLst>
          </a:prstGeom>
          <a:solidFill>
            <a:srgbClr val="E4F2F2"/>
          </a:solidFill>
          <a:ln cap="flat" cmpd="sng" w="12700">
            <a:solidFill>
              <a:srgbClr val="C3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5555128" y="2297430"/>
            <a:ext cx="28804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A3A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BA3A3"/>
                </a:solidFill>
                <a:latin typeface="Calibri"/>
                <a:ea typeface="Calibri"/>
                <a:cs typeface="Calibri"/>
                <a:sym typeface="Calibri"/>
              </a:rPr>
              <a:t>ALT: golden retriever on beach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5417964" y="2846070"/>
            <a:ext cx="2674691" cy="82296"/>
          </a:xfrm>
          <a:prstGeom prst="roundRect">
            <a:avLst>
              <a:gd fmla="val 50000" name="adj"/>
            </a:avLst>
          </a:prstGeom>
          <a:solidFill>
            <a:srgbClr val="13203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5417964" y="3079242"/>
            <a:ext cx="2331782" cy="82296"/>
          </a:xfrm>
          <a:prstGeom prst="roundRect">
            <a:avLst>
              <a:gd fmla="val 50000" name="adj"/>
            </a:avLst>
          </a:prstGeom>
          <a:solidFill>
            <a:srgbClr val="D7DCE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5417964" y="3312414"/>
            <a:ext cx="2537528" cy="82296"/>
          </a:xfrm>
          <a:prstGeom prst="roundRect">
            <a:avLst>
              <a:gd fmla="val 50000" name="adj"/>
            </a:avLst>
          </a:prstGeom>
          <a:solidFill>
            <a:srgbClr val="D7DCE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5417964" y="3545586"/>
            <a:ext cx="1988873" cy="82296"/>
          </a:xfrm>
          <a:prstGeom prst="roundRect">
            <a:avLst>
              <a:gd fmla="val 50000" name="adj"/>
            </a:avLst>
          </a:prstGeom>
          <a:solidFill>
            <a:srgbClr val="D7DCE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5417964" y="3874770"/>
            <a:ext cx="1028727" cy="274320"/>
          </a:xfrm>
          <a:prstGeom prst="roundRect">
            <a:avLst>
              <a:gd fmla="val 50000" name="adj"/>
            </a:avLst>
          </a:prstGeom>
          <a:solidFill>
            <a:srgbClr val="406E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5417964" y="3874770"/>
            <a:ext cx="10287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Continue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342909" y="4896612"/>
            <a:ext cx="20574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NeuroAccess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7772378" y="4896612"/>
            <a:ext cx="102872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01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7" title="Untitled - 19 July 2026 at 23.58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28" y="219475"/>
            <a:ext cx="404613" cy="4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342909" y="308610"/>
            <a:ext cx="2743273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6EE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06EE5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342909" y="548640"/>
            <a:ext cx="50750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The web still isn't accessible to everyone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342909" y="1200150"/>
            <a:ext cx="486931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Missing image descriptions, poor contrast, weak keyboard navigation, and difficult reading interfaces make the web harder to use for millions of people.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342909" y="1817370"/>
            <a:ext cx="48693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These aren't edge cases — they affect school admissions, job applications, banking, healthcare forms, and daily communication.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5452255" y="377190"/>
            <a:ext cx="3360510" cy="1988820"/>
          </a:xfrm>
          <a:prstGeom prst="roundRect">
            <a:avLst>
              <a:gd fmla="val 4138" name="adj"/>
            </a:avLst>
          </a:prstGeom>
          <a:solidFill>
            <a:srgbClr val="EFF3FB"/>
          </a:solidFill>
          <a:ln cap="flat" cmpd="sng" w="12700">
            <a:solidFill>
              <a:srgbClr val="E3E7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5726583" y="514350"/>
            <a:ext cx="28118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6EE5"/>
              </a:buClr>
              <a:buSzPts val="4500"/>
              <a:buFont typeface="Arial"/>
              <a:buNone/>
            </a:pPr>
            <a:r>
              <a:rPr b="1" i="0" lang="en" sz="4500" u="none" cap="none" strike="noStrike">
                <a:solidFill>
                  <a:srgbClr val="406EE5"/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5726583" y="1200150"/>
            <a:ext cx="2811855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900"/>
              <a:buFont typeface="Calibri"/>
              <a:buNone/>
            </a:pPr>
            <a:r>
              <a:rPr b="0" i="0" lang="en" sz="1100" u="none" cap="none" strike="noStrike">
                <a:solidFill>
                  <a:srgbClr val="13203B"/>
                </a:solidFill>
                <a:latin typeface="Calibri"/>
                <a:ea typeface="Calibri"/>
                <a:cs typeface="Calibri"/>
                <a:sym typeface="Calibri"/>
              </a:rPr>
              <a:t>of the world's population lives with a significant disability — most websites still aren't built for them.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5726583" y="1988820"/>
            <a:ext cx="2811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1" lang="en" sz="9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World Health Organization, 2023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342909" y="2640330"/>
            <a:ext cx="2016306" cy="216027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12700">
            <a:solidFill>
              <a:srgbClr val="E3E7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548655" y="2846070"/>
            <a:ext cx="377200" cy="37719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548655" y="2846070"/>
            <a:ext cx="377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🖼️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548655" y="3360420"/>
            <a:ext cx="16048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100"/>
              <a:buFont typeface="Arial"/>
              <a:buNone/>
            </a:pPr>
            <a:r>
              <a:rPr b="1" i="0" lang="en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Missing alt text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548655" y="3703320"/>
            <a:ext cx="160481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11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Images and controls that screen readers can't describe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2523811" y="2640330"/>
            <a:ext cx="2016306" cy="216027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12700">
            <a:solidFill>
              <a:srgbClr val="E3E7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2729557" y="2846070"/>
            <a:ext cx="377200" cy="37719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2729557" y="2846070"/>
            <a:ext cx="377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2729557" y="3360420"/>
            <a:ext cx="16048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100"/>
              <a:buFont typeface="Arial"/>
              <a:buNone/>
            </a:pPr>
            <a:r>
              <a:rPr b="1" i="0" lang="en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Poor contrast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2729557" y="3703320"/>
            <a:ext cx="160481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11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Small text and low-contrast color choices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4704713" y="2640330"/>
            <a:ext cx="2016306" cy="216027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12700">
            <a:solidFill>
              <a:srgbClr val="E3E7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4910459" y="2846070"/>
            <a:ext cx="377200" cy="37719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4910459" y="2846070"/>
            <a:ext cx="377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⌨️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4910459" y="3360420"/>
            <a:ext cx="16048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100"/>
              <a:buFont typeface="Arial"/>
              <a:buNone/>
            </a:pPr>
            <a:r>
              <a:rPr b="1" i="0" lang="en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Weak keyboard nav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4910459" y="3703320"/>
            <a:ext cx="160481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11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Precise clicking required, with no skip paths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885616" y="2640330"/>
            <a:ext cx="2016306" cy="216027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12700">
            <a:solidFill>
              <a:srgbClr val="E3E7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7091361" y="2846070"/>
            <a:ext cx="377200" cy="37719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7091361" y="2846070"/>
            <a:ext cx="377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7091361" y="3360420"/>
            <a:ext cx="16048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100"/>
              <a:buFont typeface="Arial"/>
              <a:buNone/>
            </a:pPr>
            <a:r>
              <a:rPr b="1" i="0" lang="en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Reading fatigue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7091361" y="3703320"/>
            <a:ext cx="160481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11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Dense text, with no pacing or read-aloud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342909" y="4896612"/>
            <a:ext cx="20574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NeuroAccess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7772378" y="4896612"/>
            <a:ext cx="102872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02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411480" y="274320"/>
            <a:ext cx="8320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06EE5"/>
                </a:solidFill>
                <a:latin typeface="Calibri"/>
                <a:ea typeface="Calibri"/>
                <a:cs typeface="Calibri"/>
                <a:sym typeface="Calibri"/>
              </a:rPr>
              <a:t>WHO WE HELP</a:t>
            </a:r>
            <a:endParaRPr sz="1100">
              <a:solidFill>
                <a:srgbClr val="406E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411480" y="466344"/>
            <a:ext cx="8320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1A1523"/>
                </a:solidFill>
              </a:rPr>
              <a:t>Designed for real, everyday barriers</a:t>
            </a:r>
            <a:endParaRPr sz="1100"/>
          </a:p>
        </p:txBody>
      </p:sp>
      <p:sp>
        <p:nvSpPr>
          <p:cNvPr id="150" name="Google Shape;150;p19"/>
          <p:cNvSpPr txBox="1"/>
          <p:nvPr/>
        </p:nvSpPr>
        <p:spPr>
          <a:xfrm>
            <a:off x="411480" y="891540"/>
            <a:ext cx="832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6E6680"/>
                </a:solidFill>
                <a:latin typeface="Calibri"/>
                <a:ea typeface="Calibri"/>
                <a:cs typeface="Calibri"/>
                <a:sym typeface="Calibri"/>
              </a:rPr>
              <a:t>Every group below maps to specific NeuroAccess features — not a generic accessibility toggle.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411480" y="4896612"/>
            <a:ext cx="274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8B84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NeuroAccess</a:t>
            </a:r>
            <a:endParaRPr sz="1100"/>
          </a:p>
        </p:txBody>
      </p:sp>
      <p:sp>
        <p:nvSpPr>
          <p:cNvPr id="152" name="Google Shape;152;p19"/>
          <p:cNvSpPr txBox="1"/>
          <p:nvPr/>
        </p:nvSpPr>
        <p:spPr>
          <a:xfrm>
            <a:off x="7909331" y="4896612"/>
            <a:ext cx="82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B84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/ 10</a:t>
            </a:r>
            <a:endParaRPr sz="1100"/>
          </a:p>
        </p:txBody>
      </p:sp>
      <p:sp>
        <p:nvSpPr>
          <p:cNvPr id="153" name="Google Shape;153;p19"/>
          <p:cNvSpPr/>
          <p:nvPr/>
        </p:nvSpPr>
        <p:spPr>
          <a:xfrm>
            <a:off x="411480" y="1268730"/>
            <a:ext cx="2636700" cy="102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8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548640" y="1392174"/>
            <a:ext cx="356700" cy="35670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548640" y="1392212"/>
            <a:ext cx="356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A152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🦯</a:t>
            </a:r>
            <a:endParaRPr sz="1100"/>
          </a:p>
        </p:txBody>
      </p:sp>
      <p:sp>
        <p:nvSpPr>
          <p:cNvPr id="156" name="Google Shape;156;p19"/>
          <p:cNvSpPr txBox="1"/>
          <p:nvPr/>
        </p:nvSpPr>
        <p:spPr>
          <a:xfrm>
            <a:off x="994410" y="1405890"/>
            <a:ext cx="191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A1523"/>
                </a:solidFill>
                <a:latin typeface="Calibri"/>
                <a:ea typeface="Calibri"/>
                <a:cs typeface="Calibri"/>
                <a:sym typeface="Calibri"/>
              </a:rPr>
              <a:t>Blind users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576297" y="1851566"/>
            <a:ext cx="2307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6E6680"/>
                </a:solidFill>
                <a:latin typeface="Calibri"/>
                <a:ea typeface="Calibri"/>
                <a:cs typeface="Calibri"/>
                <a:sym typeface="Calibri"/>
              </a:rPr>
              <a:t>AI image labeling + OCR, ARIA fixes, voice commands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3253663" y="1268730"/>
            <a:ext cx="2636700" cy="102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8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3390824" y="1392174"/>
            <a:ext cx="356700" cy="35670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3390824" y="1392212"/>
            <a:ext cx="356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A152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👓</a:t>
            </a:r>
            <a:endParaRPr sz="1100"/>
          </a:p>
        </p:txBody>
      </p:sp>
      <p:sp>
        <p:nvSpPr>
          <p:cNvPr id="161" name="Google Shape;161;p19"/>
          <p:cNvSpPr txBox="1"/>
          <p:nvPr/>
        </p:nvSpPr>
        <p:spPr>
          <a:xfrm>
            <a:off x="3836594" y="1405890"/>
            <a:ext cx="191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A1523"/>
                </a:solidFill>
                <a:latin typeface="Calibri"/>
                <a:ea typeface="Calibri"/>
                <a:cs typeface="Calibri"/>
                <a:sym typeface="Calibri"/>
              </a:rPr>
              <a:t>Low vision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3418368" y="1840939"/>
            <a:ext cx="2307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6E6680"/>
                </a:solidFill>
                <a:latin typeface="Calibri"/>
                <a:ea typeface="Calibri"/>
                <a:cs typeface="Calibri"/>
                <a:sym typeface="Calibri"/>
              </a:rPr>
              <a:t>Smart contrast fixer, readability profiles, focus visibility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6095847" y="1268730"/>
            <a:ext cx="2636700" cy="102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8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6233007" y="1392174"/>
            <a:ext cx="356700" cy="35670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6233257" y="1392212"/>
            <a:ext cx="356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A152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🎨</a:t>
            </a:r>
            <a:endParaRPr sz="1100"/>
          </a:p>
        </p:txBody>
      </p:sp>
      <p:sp>
        <p:nvSpPr>
          <p:cNvPr id="166" name="Google Shape;166;p19"/>
          <p:cNvSpPr txBox="1"/>
          <p:nvPr/>
        </p:nvSpPr>
        <p:spPr>
          <a:xfrm>
            <a:off x="6678777" y="1405890"/>
            <a:ext cx="191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A1523"/>
                </a:solidFill>
                <a:latin typeface="Calibri"/>
                <a:ea typeface="Calibri"/>
                <a:cs typeface="Calibri"/>
                <a:sym typeface="Calibri"/>
              </a:rPr>
              <a:t>Color vision deficiency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6260439" y="1882189"/>
            <a:ext cx="2307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6E6680"/>
                </a:solidFill>
                <a:latin typeface="Calibri"/>
                <a:ea typeface="Calibri"/>
                <a:cs typeface="Calibri"/>
                <a:sym typeface="Calibri"/>
              </a:rPr>
              <a:t>Color-blind presets + WCAG contrast adjustments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411480" y="2503170"/>
            <a:ext cx="2636700" cy="102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8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548640" y="2626614"/>
            <a:ext cx="356700" cy="35670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548640" y="2626627"/>
            <a:ext cx="356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A152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📚</a:t>
            </a:r>
            <a:endParaRPr sz="1100"/>
          </a:p>
        </p:txBody>
      </p:sp>
      <p:sp>
        <p:nvSpPr>
          <p:cNvPr id="171" name="Google Shape;171;p19"/>
          <p:cNvSpPr txBox="1"/>
          <p:nvPr/>
        </p:nvSpPr>
        <p:spPr>
          <a:xfrm>
            <a:off x="994410" y="2640330"/>
            <a:ext cx="191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A1523"/>
                </a:solidFill>
                <a:latin typeface="Calibri"/>
                <a:ea typeface="Calibri"/>
                <a:cs typeface="Calibri"/>
                <a:sym typeface="Calibri"/>
              </a:rPr>
              <a:t>Dyslexia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576072" y="3072654"/>
            <a:ext cx="2307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6E6680"/>
                </a:solidFill>
                <a:latin typeface="Calibri"/>
                <a:ea typeface="Calibri"/>
                <a:cs typeface="Calibri"/>
                <a:sym typeface="Calibri"/>
              </a:rPr>
              <a:t>Text-to-speech, paced reading, profile simplification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253663" y="2503170"/>
            <a:ext cx="2636700" cy="102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8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3390824" y="2626614"/>
            <a:ext cx="356700" cy="35670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3390824" y="2626614"/>
            <a:ext cx="356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A152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🖐️</a:t>
            </a:r>
            <a:endParaRPr sz="1100"/>
          </a:p>
        </p:txBody>
      </p:sp>
      <p:sp>
        <p:nvSpPr>
          <p:cNvPr id="176" name="Google Shape;176;p19"/>
          <p:cNvSpPr txBox="1"/>
          <p:nvPr/>
        </p:nvSpPr>
        <p:spPr>
          <a:xfrm>
            <a:off x="3836594" y="2640330"/>
            <a:ext cx="191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A1523"/>
                </a:solidFill>
                <a:latin typeface="Calibri"/>
                <a:ea typeface="Calibri"/>
                <a:cs typeface="Calibri"/>
                <a:sym typeface="Calibri"/>
              </a:rPr>
              <a:t>Motor impairments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3418256" y="3080336"/>
            <a:ext cx="2307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6E6680"/>
                </a:solidFill>
                <a:latin typeface="Calibri"/>
                <a:ea typeface="Calibri"/>
                <a:cs typeface="Calibri"/>
                <a:sym typeface="Calibri"/>
              </a:rPr>
              <a:t>Voice navigation, keyboard enhancements, skip links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095847" y="2503170"/>
            <a:ext cx="2636700" cy="102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8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233007" y="2626614"/>
            <a:ext cx="356700" cy="35670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6233257" y="2626614"/>
            <a:ext cx="356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A152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</a:t>
            </a:r>
            <a:endParaRPr sz="1100"/>
          </a:p>
        </p:txBody>
      </p:sp>
      <p:sp>
        <p:nvSpPr>
          <p:cNvPr id="181" name="Google Shape;181;p19"/>
          <p:cNvSpPr txBox="1"/>
          <p:nvPr/>
        </p:nvSpPr>
        <p:spPr>
          <a:xfrm>
            <a:off x="6678777" y="2640330"/>
            <a:ext cx="191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A1523"/>
                </a:solidFill>
                <a:latin typeface="Calibri"/>
                <a:ea typeface="Calibri"/>
                <a:cs typeface="Calibri"/>
                <a:sym typeface="Calibri"/>
              </a:rPr>
              <a:t>Cognitive / attention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6260439" y="3080336"/>
            <a:ext cx="2307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6E6680"/>
                </a:solidFill>
                <a:latin typeface="Calibri"/>
                <a:ea typeface="Calibri"/>
                <a:cs typeface="Calibri"/>
                <a:sym typeface="Calibri"/>
              </a:rPr>
              <a:t>One-click mode, guided profiles, cleaner navigation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411480" y="3737610"/>
            <a:ext cx="2636700" cy="102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8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48640" y="3861054"/>
            <a:ext cx="356700" cy="35670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994410" y="3874770"/>
            <a:ext cx="191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A1523"/>
                </a:solidFill>
                <a:latin typeface="Calibri"/>
                <a:ea typeface="Calibri"/>
                <a:cs typeface="Calibri"/>
                <a:sym typeface="Calibri"/>
              </a:rPr>
              <a:t>Age-related decline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548640" y="3861054"/>
            <a:ext cx="356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A152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⏳</a:t>
            </a:r>
            <a:endParaRPr sz="1100"/>
          </a:p>
        </p:txBody>
      </p:sp>
      <p:sp>
        <p:nvSpPr>
          <p:cNvPr id="187" name="Google Shape;187;p19"/>
          <p:cNvSpPr txBox="1"/>
          <p:nvPr/>
        </p:nvSpPr>
        <p:spPr>
          <a:xfrm>
            <a:off x="576072" y="4295277"/>
            <a:ext cx="2307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6E6680"/>
                </a:solidFill>
                <a:latin typeface="Calibri"/>
                <a:ea typeface="Calibri"/>
                <a:cs typeface="Calibri"/>
                <a:sym typeface="Calibri"/>
              </a:rPr>
              <a:t>Personalized combinations of every profile above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3253663" y="3737610"/>
            <a:ext cx="2636700" cy="102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8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3390824" y="3861054"/>
            <a:ext cx="356700" cy="35670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3390836" y="3861054"/>
            <a:ext cx="356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A152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</a:t>
            </a:r>
            <a:endParaRPr sz="1100"/>
          </a:p>
        </p:txBody>
      </p:sp>
      <p:sp>
        <p:nvSpPr>
          <p:cNvPr id="191" name="Google Shape;191;p19"/>
          <p:cNvSpPr txBox="1"/>
          <p:nvPr/>
        </p:nvSpPr>
        <p:spPr>
          <a:xfrm>
            <a:off x="3836594" y="3874770"/>
            <a:ext cx="191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A1523"/>
                </a:solidFill>
                <a:latin typeface="Calibri"/>
                <a:ea typeface="Calibri"/>
                <a:cs typeface="Calibri"/>
                <a:sym typeface="Calibri"/>
              </a:rPr>
              <a:t>Temporary impairments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3418256" y="4303603"/>
            <a:ext cx="2307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6E6680"/>
                </a:solidFill>
                <a:latin typeface="Calibri"/>
                <a:ea typeface="Calibri"/>
                <a:cs typeface="Calibri"/>
                <a:sym typeface="Calibri"/>
              </a:rPr>
              <a:t>Instant contrast, TTS, keyboard-first shortcuts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095847" y="3737610"/>
            <a:ext cx="2636700" cy="102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8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233007" y="3861054"/>
            <a:ext cx="356700" cy="35670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6233257" y="3844154"/>
            <a:ext cx="356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A152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👂</a:t>
            </a:r>
            <a:endParaRPr sz="1100"/>
          </a:p>
        </p:txBody>
      </p:sp>
      <p:sp>
        <p:nvSpPr>
          <p:cNvPr id="196" name="Google Shape;196;p19"/>
          <p:cNvSpPr txBox="1"/>
          <p:nvPr/>
        </p:nvSpPr>
        <p:spPr>
          <a:xfrm>
            <a:off x="6678777" y="3874770"/>
            <a:ext cx="191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A1523"/>
                </a:solidFill>
                <a:latin typeface="Calibri"/>
                <a:ea typeface="Calibri"/>
                <a:cs typeface="Calibri"/>
                <a:sym typeface="Calibri"/>
              </a:rPr>
              <a:t>Deaf / hard-of-hearing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6260439" y="4289171"/>
            <a:ext cx="2307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6E6680"/>
                </a:solidFill>
                <a:latin typeface="Calibri"/>
                <a:ea typeface="Calibri"/>
                <a:cs typeface="Calibri"/>
                <a:sym typeface="Calibri"/>
              </a:rPr>
              <a:t>Caption/transcript-oriented, visual-first patterns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/>
          <p:nvPr/>
        </p:nvSpPr>
        <p:spPr>
          <a:xfrm>
            <a:off x="342909" y="308610"/>
            <a:ext cx="2743273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6EE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06EE5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20"/>
          <p:cNvCxnSpPr/>
          <p:nvPr/>
        </p:nvCxnSpPr>
        <p:spPr>
          <a:xfrm>
            <a:off x="617236" y="2674620"/>
            <a:ext cx="7909542" cy="0"/>
          </a:xfrm>
          <a:prstGeom prst="straightConnector1">
            <a:avLst/>
          </a:prstGeom>
          <a:noFill/>
          <a:ln cap="flat" cmpd="sng" w="19050">
            <a:solidFill>
              <a:srgbClr val="CDDBF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5" name="Google Shape;205;p20"/>
          <p:cNvCxnSpPr/>
          <p:nvPr/>
        </p:nvCxnSpPr>
        <p:spPr>
          <a:xfrm>
            <a:off x="1408191" y="2331720"/>
            <a:ext cx="0" cy="342900"/>
          </a:xfrm>
          <a:prstGeom prst="straightConnector1">
            <a:avLst/>
          </a:prstGeom>
          <a:noFill/>
          <a:ln cap="flat" cmpd="sng" w="15875">
            <a:solidFill>
              <a:srgbClr val="CDDBF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20"/>
          <p:cNvSpPr/>
          <p:nvPr/>
        </p:nvSpPr>
        <p:spPr>
          <a:xfrm>
            <a:off x="1209304" y="2475738"/>
            <a:ext cx="397775" cy="3977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1209304" y="2475738"/>
            <a:ext cx="3978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720109" y="651510"/>
            <a:ext cx="1376163" cy="219456"/>
          </a:xfrm>
          <a:prstGeom prst="roundRect">
            <a:avLst>
              <a:gd fmla="val 50000" name="adj"/>
            </a:avLst>
          </a:prstGeom>
          <a:solidFill>
            <a:srgbClr val="E4F2F2"/>
          </a:solidFill>
          <a:ln cap="flat" cmpd="sng" w="12700">
            <a:solidFill>
              <a:srgbClr val="C3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720109" y="651510"/>
            <a:ext cx="137616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A3A3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4BA3A3"/>
                </a:solidFill>
                <a:latin typeface="Calibri"/>
                <a:ea typeface="Calibri"/>
                <a:cs typeface="Calibri"/>
                <a:sym typeface="Calibri"/>
              </a:rPr>
              <a:t>BUILT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685818" y="960120"/>
            <a:ext cx="1444745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000"/>
              <a:buFont typeface="Arial"/>
              <a:buNone/>
            </a:pPr>
            <a:r>
              <a:rPr b="1" i="0" lang="en" sz="12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Contrast Fixer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720109" y="1337310"/>
            <a:ext cx="1376163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WCAG-oriented contrast fixes and color-blind presets (protanopia, deuteranopia, tritanopia).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20"/>
          <p:cNvCxnSpPr/>
          <p:nvPr/>
        </p:nvCxnSpPr>
        <p:spPr>
          <a:xfrm>
            <a:off x="2990099" y="2674620"/>
            <a:ext cx="0" cy="342900"/>
          </a:xfrm>
          <a:prstGeom prst="straightConnector1">
            <a:avLst/>
          </a:prstGeom>
          <a:noFill/>
          <a:ln cap="flat" cmpd="sng" w="15875">
            <a:solidFill>
              <a:srgbClr val="CDDBF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20"/>
          <p:cNvSpPr/>
          <p:nvPr/>
        </p:nvSpPr>
        <p:spPr>
          <a:xfrm>
            <a:off x="2791212" y="2475738"/>
            <a:ext cx="397775" cy="3977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2791212" y="2475738"/>
            <a:ext cx="397775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📏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2267727" y="3120390"/>
            <a:ext cx="1444745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000"/>
              <a:buFont typeface="Arial"/>
              <a:buNone/>
            </a:pPr>
            <a:r>
              <a:rPr b="1" i="0" lang="en" sz="12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Reading Ruler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2302018" y="3497580"/>
            <a:ext cx="1376163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Dims everything but the active line, with mouse, keyboard, or combined follow modes.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2302018" y="4423410"/>
            <a:ext cx="1376163" cy="219456"/>
          </a:xfrm>
          <a:prstGeom prst="roundRect">
            <a:avLst>
              <a:gd fmla="val 50000" name="adj"/>
            </a:avLst>
          </a:prstGeom>
          <a:solidFill>
            <a:srgbClr val="E4F2F2"/>
          </a:solidFill>
          <a:ln cap="flat" cmpd="sng" w="12700">
            <a:solidFill>
              <a:srgbClr val="C3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2302018" y="4423410"/>
            <a:ext cx="137616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A3A3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4BA3A3"/>
                </a:solidFill>
                <a:latin typeface="Calibri"/>
                <a:ea typeface="Calibri"/>
                <a:cs typeface="Calibri"/>
                <a:sym typeface="Calibri"/>
              </a:rPr>
              <a:t>BUILT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20"/>
          <p:cNvCxnSpPr/>
          <p:nvPr/>
        </p:nvCxnSpPr>
        <p:spPr>
          <a:xfrm>
            <a:off x="4572008" y="2331720"/>
            <a:ext cx="0" cy="342900"/>
          </a:xfrm>
          <a:prstGeom prst="straightConnector1">
            <a:avLst/>
          </a:prstGeom>
          <a:noFill/>
          <a:ln cap="flat" cmpd="sng" w="15875">
            <a:solidFill>
              <a:srgbClr val="CDDBF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20"/>
          <p:cNvSpPr/>
          <p:nvPr/>
        </p:nvSpPr>
        <p:spPr>
          <a:xfrm>
            <a:off x="4373121" y="2475738"/>
            <a:ext cx="397775" cy="3977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4373121" y="2475738"/>
            <a:ext cx="397775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🗣️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3883926" y="651510"/>
            <a:ext cx="1376163" cy="219456"/>
          </a:xfrm>
          <a:prstGeom prst="roundRect">
            <a:avLst>
              <a:gd fmla="val 50000" name="adj"/>
            </a:avLst>
          </a:prstGeom>
          <a:solidFill>
            <a:srgbClr val="E4F2F2"/>
          </a:solidFill>
          <a:ln cap="flat" cmpd="sng" w="12700">
            <a:solidFill>
              <a:srgbClr val="C3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3883926" y="651510"/>
            <a:ext cx="137616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A3A3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4BA3A3"/>
                </a:solidFill>
                <a:latin typeface="Calibri"/>
                <a:ea typeface="Calibri"/>
                <a:cs typeface="Calibri"/>
                <a:sym typeface="Calibri"/>
              </a:rPr>
              <a:t>BUILT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3849624" y="960125"/>
            <a:ext cx="1581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000"/>
              <a:buFont typeface="Arial"/>
              <a:buNone/>
            </a:pPr>
            <a:r>
              <a:rPr b="1" i="0" lang="en" sz="12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Syllable Highlighting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3883926" y="1337310"/>
            <a:ext cx="1376163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Highlights syllables in sync with read-aloud, powered by the browser's native speech engine.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20"/>
          <p:cNvCxnSpPr/>
          <p:nvPr/>
        </p:nvCxnSpPr>
        <p:spPr>
          <a:xfrm>
            <a:off x="6153916" y="2674620"/>
            <a:ext cx="0" cy="342900"/>
          </a:xfrm>
          <a:prstGeom prst="straightConnector1">
            <a:avLst/>
          </a:prstGeom>
          <a:noFill/>
          <a:ln cap="flat" cmpd="sng" w="15875">
            <a:solidFill>
              <a:srgbClr val="CDDBF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20"/>
          <p:cNvSpPr/>
          <p:nvPr/>
        </p:nvSpPr>
        <p:spPr>
          <a:xfrm>
            <a:off x="5955029" y="2475738"/>
            <a:ext cx="397775" cy="3977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5955029" y="2475738"/>
            <a:ext cx="397775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🌿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5431544" y="3120390"/>
            <a:ext cx="1444745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000"/>
              <a:buFont typeface="Arial"/>
              <a:buNone/>
            </a:pPr>
            <a:r>
              <a:rPr b="1" i="0" lang="en" sz="12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Calm Theme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465834" y="3497580"/>
            <a:ext cx="1376163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Muted colors, reduced motion, and decluttering for lower cognitive load.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5465834" y="4423410"/>
            <a:ext cx="1376163" cy="219456"/>
          </a:xfrm>
          <a:prstGeom prst="roundRect">
            <a:avLst>
              <a:gd fmla="val 50000" name="adj"/>
            </a:avLst>
          </a:prstGeom>
          <a:solidFill>
            <a:srgbClr val="E4F2F2"/>
          </a:solidFill>
          <a:ln cap="flat" cmpd="sng" w="12700">
            <a:solidFill>
              <a:srgbClr val="C3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5465834" y="4423410"/>
            <a:ext cx="137616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A3A3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4BA3A3"/>
                </a:solidFill>
                <a:latin typeface="Calibri"/>
                <a:ea typeface="Calibri"/>
                <a:cs typeface="Calibri"/>
                <a:sym typeface="Calibri"/>
              </a:rPr>
              <a:t>BUILT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20"/>
          <p:cNvCxnSpPr/>
          <p:nvPr/>
        </p:nvCxnSpPr>
        <p:spPr>
          <a:xfrm>
            <a:off x="7735825" y="2331720"/>
            <a:ext cx="0" cy="342900"/>
          </a:xfrm>
          <a:prstGeom prst="straightConnector1">
            <a:avLst/>
          </a:prstGeom>
          <a:noFill/>
          <a:ln cap="flat" cmpd="sng" w="15875">
            <a:solidFill>
              <a:srgbClr val="CDDBF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20"/>
          <p:cNvSpPr/>
          <p:nvPr/>
        </p:nvSpPr>
        <p:spPr>
          <a:xfrm>
            <a:off x="7536937" y="2475738"/>
            <a:ext cx="397775" cy="3977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7536937" y="2475738"/>
            <a:ext cx="397775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⏭️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7047743" y="651510"/>
            <a:ext cx="1376163" cy="219456"/>
          </a:xfrm>
          <a:prstGeom prst="roundRect">
            <a:avLst>
              <a:gd fmla="val 50000" name="adj"/>
            </a:avLst>
          </a:prstGeom>
          <a:solidFill>
            <a:srgbClr val="E4F2F2"/>
          </a:solidFill>
          <a:ln cap="flat" cmpd="sng" w="12700">
            <a:solidFill>
              <a:srgbClr val="C3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7047743" y="651510"/>
            <a:ext cx="137616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A3A3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4BA3A3"/>
                </a:solidFill>
                <a:latin typeface="Calibri"/>
                <a:ea typeface="Calibri"/>
                <a:cs typeface="Calibri"/>
                <a:sym typeface="Calibri"/>
              </a:rPr>
              <a:t>BUILT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7013452" y="960120"/>
            <a:ext cx="1444745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000"/>
              <a:buFont typeface="Arial"/>
              <a:buNone/>
            </a:pPr>
            <a:r>
              <a:rPr b="1" i="0" lang="en" sz="12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Skip Links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7047743" y="1337310"/>
            <a:ext cx="1376163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Landmark-based skip navigation to jump past repetitive content with the keyboard.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342909" y="4896612"/>
            <a:ext cx="20574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NeuroAccess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7772378" y="4896612"/>
            <a:ext cx="102872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07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/>
          <p:nvPr/>
        </p:nvSpPr>
        <p:spPr>
          <a:xfrm>
            <a:off x="342909" y="308610"/>
            <a:ext cx="2743273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6EE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06EE5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342909" y="826869"/>
            <a:ext cx="3703500" cy="3703200"/>
          </a:xfrm>
          <a:prstGeom prst="roundRect">
            <a:avLst>
              <a:gd fmla="val 2222" name="adj"/>
            </a:avLst>
          </a:prstGeom>
          <a:solidFill>
            <a:schemeClr val="lt1"/>
          </a:solidFill>
          <a:ln cap="flat" cmpd="sng" w="12700">
            <a:solidFill>
              <a:srgbClr val="E3E7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685818" y="1169769"/>
            <a:ext cx="617100" cy="617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548118" y="1169819"/>
            <a:ext cx="617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685806" y="1740279"/>
            <a:ext cx="3017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One Click Global Mode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685806" y="2507064"/>
            <a:ext cx="30177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1000"/>
              <a:buFont typeface="Calibri"/>
              <a:buNone/>
            </a:pPr>
            <a:r>
              <a:rPr b="0" i="0" lang="en" sz="15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Page audit + safe auto-fixes (alt text, ARIA, heading helpers) with a before/after summary.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685818" y="3947259"/>
            <a:ext cx="1028700" cy="288000"/>
          </a:xfrm>
          <a:prstGeom prst="roundRect">
            <a:avLst>
              <a:gd fmla="val 50000" name="adj"/>
            </a:avLst>
          </a:prstGeom>
          <a:solidFill>
            <a:srgbClr val="E4F2F2"/>
          </a:solidFill>
          <a:ln cap="flat" cmpd="sng" w="12700">
            <a:solidFill>
              <a:srgbClr val="C3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685818" y="3947259"/>
            <a:ext cx="1028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A3A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BA3A3"/>
                </a:solidFill>
                <a:latin typeface="Calibri"/>
                <a:ea typeface="Calibri"/>
                <a:cs typeface="Calibri"/>
                <a:sym typeface="Calibri"/>
              </a:rPr>
              <a:t>BUILT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4252073" y="826869"/>
            <a:ext cx="4547100" cy="17694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3E7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4492110" y="1471521"/>
            <a:ext cx="480000" cy="48000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4492110" y="1471521"/>
            <a:ext cx="48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5143637" y="1169759"/>
            <a:ext cx="2558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200"/>
              <a:buFont typeface="Arial"/>
              <a:buNone/>
            </a:pPr>
            <a:r>
              <a:rPr b="1" i="0" lang="en" sz="15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AI Alt-Text + Voice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5143637" y="1409799"/>
            <a:ext cx="3415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900"/>
              <a:buFont typeface="Calibri"/>
              <a:buNone/>
            </a:pPr>
            <a:r>
              <a:rPr b="0" i="0" lang="en" sz="13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Wire the extension to the existing captioning/OCR backend; add hands-free voice commands.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7873194" y="1032609"/>
            <a:ext cx="720000" cy="260700"/>
          </a:xfrm>
          <a:prstGeom prst="roundRect">
            <a:avLst>
              <a:gd fmla="val 50000" name="adj"/>
            </a:avLst>
          </a:prstGeom>
          <a:solidFill>
            <a:srgbClr val="E4F2F2"/>
          </a:solidFill>
          <a:ln cap="flat" cmpd="sng" w="12700">
            <a:solidFill>
              <a:srgbClr val="C3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7873194" y="1032609"/>
            <a:ext cx="720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A3A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BA3A3"/>
                </a:solidFill>
                <a:latin typeface="Calibri"/>
                <a:ea typeface="Calibri"/>
                <a:cs typeface="Calibri"/>
                <a:sym typeface="Calibri"/>
              </a:rPr>
              <a:t>BUILT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4252073" y="2760825"/>
            <a:ext cx="4547100" cy="17694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3E7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"/>
          <p:cNvSpPr/>
          <p:nvPr/>
        </p:nvSpPr>
        <p:spPr>
          <a:xfrm>
            <a:off x="4492110" y="3405477"/>
            <a:ext cx="480000" cy="480000"/>
          </a:xfrm>
          <a:prstGeom prst="ellipse">
            <a:avLst/>
          </a:prstGeom>
          <a:solidFill>
            <a:srgbClr val="EAF0F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4492110" y="3405477"/>
            <a:ext cx="48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🗣️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5143650" y="3124165"/>
            <a:ext cx="2558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200"/>
              <a:buFont typeface="Arial"/>
              <a:buNone/>
            </a:pPr>
            <a:r>
              <a:rPr b="1" i="0" lang="en" sz="15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Accessibility Profiles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5143637" y="3343755"/>
            <a:ext cx="3415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900"/>
              <a:buFont typeface="Calibri"/>
              <a:buNone/>
            </a:pPr>
            <a:r>
              <a:rPr b="0" i="0" lang="en" sz="13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One-click Default / Blind / Low Vision / Dyslexic presets bundling existing features.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7873194" y="2966565"/>
            <a:ext cx="720000" cy="260700"/>
          </a:xfrm>
          <a:prstGeom prst="roundRect">
            <a:avLst>
              <a:gd fmla="val 50000" name="adj"/>
            </a:avLst>
          </a:prstGeom>
          <a:solidFill>
            <a:srgbClr val="E4F2F2"/>
          </a:solidFill>
          <a:ln cap="flat" cmpd="sng" w="12700">
            <a:solidFill>
              <a:srgbClr val="C3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7873194" y="2966565"/>
            <a:ext cx="720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A3A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4BA3A3"/>
                </a:solidFill>
                <a:latin typeface="Calibri"/>
                <a:ea typeface="Calibri"/>
                <a:cs typeface="Calibri"/>
                <a:sym typeface="Calibri"/>
              </a:rPr>
              <a:t>BUILT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342909" y="4896612"/>
            <a:ext cx="20574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NeuroAccess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7772378" y="4896612"/>
            <a:ext cx="102872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07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/>
          <p:nvPr/>
        </p:nvSpPr>
        <p:spPr>
          <a:xfrm>
            <a:off x="342909" y="4896612"/>
            <a:ext cx="20574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NeuroAccess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7772378" y="4896612"/>
            <a:ext cx="102872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06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0" y="207296"/>
            <a:ext cx="9144000" cy="44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411416" y="1586013"/>
            <a:ext cx="3988500" cy="7788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8750">
            <a:solidFill>
              <a:srgbClr val="E8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411416" y="1586013"/>
            <a:ext cx="3988500" cy="299700"/>
          </a:xfrm>
          <a:prstGeom prst="roundRect">
            <a:avLst>
              <a:gd fmla="val 7000" name="adj"/>
            </a:avLst>
          </a:prstGeom>
          <a:solidFill>
            <a:srgbClr val="406EE5"/>
          </a:solidFill>
          <a:ln>
            <a:noFill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411416" y="1735819"/>
            <a:ext cx="3988500" cy="149700"/>
          </a:xfrm>
          <a:prstGeom prst="rect">
            <a:avLst/>
          </a:prstGeom>
          <a:solidFill>
            <a:srgbClr val="406EE5"/>
          </a:solidFill>
          <a:ln>
            <a:noFill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562296" y="1586013"/>
            <a:ext cx="37146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64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Extension</a:t>
            </a:r>
            <a:endParaRPr sz="964"/>
          </a:p>
        </p:txBody>
      </p:sp>
      <p:sp>
        <p:nvSpPr>
          <p:cNvPr id="283" name="Google Shape;283;p22"/>
          <p:cNvSpPr txBox="1"/>
          <p:nvPr/>
        </p:nvSpPr>
        <p:spPr>
          <a:xfrm>
            <a:off x="562296" y="1957532"/>
            <a:ext cx="36873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23" u="none" cap="none" strike="noStrike">
                <a:solidFill>
                  <a:srgbClr val="406EE5"/>
                </a:solidFill>
                <a:latin typeface="Calibri"/>
                <a:ea typeface="Calibri"/>
                <a:cs typeface="Calibri"/>
                <a:sym typeface="Calibri"/>
              </a:rPr>
              <a:t>Plasmo · TypeScript · Tailwind</a:t>
            </a:r>
            <a:endParaRPr sz="964">
              <a:solidFill>
                <a:srgbClr val="406E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562296" y="2127388"/>
            <a:ext cx="36873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23" u="none" cap="none" strike="noStrike">
                <a:solidFill>
                  <a:srgbClr val="6E6680"/>
                </a:solidFill>
                <a:latin typeface="Calibri"/>
                <a:ea typeface="Calibri"/>
                <a:cs typeface="Calibri"/>
                <a:sym typeface="Calibri"/>
              </a:rPr>
              <a:t>Core product — every on-device feature runs directly in the browser.</a:t>
            </a:r>
            <a:endParaRPr sz="116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4743391" y="1586013"/>
            <a:ext cx="3988500" cy="7788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8750">
            <a:solidFill>
              <a:srgbClr val="E8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4743391" y="1586013"/>
            <a:ext cx="3988500" cy="299700"/>
          </a:xfrm>
          <a:prstGeom prst="roundRect">
            <a:avLst>
              <a:gd fmla="val 7000" name="adj"/>
            </a:avLst>
          </a:prstGeom>
          <a:solidFill>
            <a:srgbClr val="406EE5"/>
          </a:solidFill>
          <a:ln>
            <a:noFill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4743391" y="1735819"/>
            <a:ext cx="3988500" cy="149700"/>
          </a:xfrm>
          <a:prstGeom prst="rect">
            <a:avLst/>
          </a:prstGeom>
          <a:solidFill>
            <a:srgbClr val="406EE5"/>
          </a:solidFill>
          <a:ln>
            <a:noFill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4894271" y="1586013"/>
            <a:ext cx="37146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64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Website</a:t>
            </a:r>
            <a:endParaRPr sz="964"/>
          </a:p>
        </p:txBody>
      </p:sp>
      <p:sp>
        <p:nvSpPr>
          <p:cNvPr id="289" name="Google Shape;289;p22"/>
          <p:cNvSpPr txBox="1"/>
          <p:nvPr/>
        </p:nvSpPr>
        <p:spPr>
          <a:xfrm>
            <a:off x="4894271" y="1957532"/>
            <a:ext cx="36873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23" u="none" cap="none" strike="noStrike">
                <a:solidFill>
                  <a:srgbClr val="406EE5"/>
                </a:solidFill>
                <a:latin typeface="Calibri"/>
                <a:ea typeface="Calibri"/>
                <a:cs typeface="Calibri"/>
                <a:sym typeface="Calibri"/>
              </a:rPr>
              <a:t>Vite + React · Tailwind v4</a:t>
            </a:r>
            <a:endParaRPr sz="964">
              <a:solidFill>
                <a:srgbClr val="406E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4894271" y="2149285"/>
            <a:ext cx="36873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23" u="none" cap="none" strike="noStrike">
                <a:solidFill>
                  <a:srgbClr val="6E6680"/>
                </a:solidFill>
                <a:latin typeface="Calibri"/>
                <a:ea typeface="Calibri"/>
                <a:cs typeface="Calibri"/>
                <a:sym typeface="Calibri"/>
              </a:rPr>
              <a:t>Marketing site plus account auth (login, signup, profile).</a:t>
            </a:r>
            <a:endParaRPr sz="116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3604932" y="1663912"/>
            <a:ext cx="685800" cy="143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3604932" y="1663912"/>
            <a:ext cx="685800" cy="1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51" u="none" cap="none" strike="noStrike">
                <a:solidFill>
                  <a:srgbClr val="406E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ON-DEVICE</a:t>
            </a:r>
            <a:endParaRPr sz="964">
              <a:solidFill>
                <a:srgbClr val="406EE5"/>
              </a:solidFill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7936906" y="1663912"/>
            <a:ext cx="685800" cy="143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7936906" y="1663912"/>
            <a:ext cx="685800" cy="1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51" u="none" cap="none" strike="noStrike">
                <a:solidFill>
                  <a:srgbClr val="406E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ON-DEVICE</a:t>
            </a:r>
            <a:endParaRPr sz="964">
              <a:solidFill>
                <a:srgbClr val="406EE5"/>
              </a:solidFill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3131717" y="2724541"/>
            <a:ext cx="2881200" cy="7788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8750">
            <a:solidFill>
              <a:srgbClr val="E8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3131717" y="2724541"/>
            <a:ext cx="2881200" cy="299700"/>
          </a:xfrm>
          <a:prstGeom prst="roundRect">
            <a:avLst>
              <a:gd fmla="val 7000" name="adj"/>
            </a:avLst>
          </a:prstGeom>
          <a:solidFill>
            <a:srgbClr val="406EE5"/>
          </a:solidFill>
          <a:ln>
            <a:noFill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3131717" y="2874347"/>
            <a:ext cx="2881200" cy="149700"/>
          </a:xfrm>
          <a:prstGeom prst="rect">
            <a:avLst/>
          </a:prstGeom>
          <a:solidFill>
            <a:srgbClr val="406EE5"/>
          </a:solidFill>
          <a:ln>
            <a:noFill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3282597" y="2724541"/>
            <a:ext cx="2606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64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</a:t>
            </a:r>
            <a:endParaRPr sz="964"/>
          </a:p>
        </p:txBody>
      </p:sp>
      <p:sp>
        <p:nvSpPr>
          <p:cNvPr id="299" name="Google Shape;299;p22"/>
          <p:cNvSpPr txBox="1"/>
          <p:nvPr/>
        </p:nvSpPr>
        <p:spPr>
          <a:xfrm>
            <a:off x="3282597" y="3096061"/>
            <a:ext cx="25791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23" u="none" cap="none" strike="noStrike">
                <a:solidFill>
                  <a:srgbClr val="406EE5"/>
                </a:solidFill>
                <a:latin typeface="Calibri"/>
                <a:ea typeface="Calibri"/>
                <a:cs typeface="Calibri"/>
                <a:sym typeface="Calibri"/>
              </a:rPr>
              <a:t>FastAPI (Python) · uv</a:t>
            </a:r>
            <a:endParaRPr sz="964">
              <a:solidFill>
                <a:srgbClr val="406E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3282597" y="3287813"/>
            <a:ext cx="25791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6E6680"/>
                </a:solidFill>
                <a:latin typeface="Calibri"/>
                <a:ea typeface="Calibri"/>
                <a:cs typeface="Calibri"/>
                <a:sym typeface="Calibri"/>
              </a:rPr>
              <a:t>Thin AI proxy — captioning, OCR, and JWT auth only.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22"/>
          <p:cNvCxnSpPr/>
          <p:nvPr/>
        </p:nvCxnSpPr>
        <p:spPr>
          <a:xfrm>
            <a:off x="2405949" y="2365006"/>
            <a:ext cx="1411500" cy="359700"/>
          </a:xfrm>
          <a:prstGeom prst="bentConnector3">
            <a:avLst>
              <a:gd fmla="val 50000" name="adj1"/>
            </a:avLst>
          </a:prstGeom>
          <a:noFill/>
          <a:ln cap="flat" cmpd="sng" w="15300">
            <a:solidFill>
              <a:srgbClr val="406EE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2" name="Google Shape;302;p22"/>
          <p:cNvCxnSpPr/>
          <p:nvPr/>
        </p:nvCxnSpPr>
        <p:spPr>
          <a:xfrm flipH="1">
            <a:off x="5326423" y="2365006"/>
            <a:ext cx="1411500" cy="359700"/>
          </a:xfrm>
          <a:prstGeom prst="bentConnector3">
            <a:avLst>
              <a:gd fmla="val 50000" name="adj1"/>
            </a:avLst>
          </a:prstGeom>
          <a:noFill/>
          <a:ln cap="flat" cmpd="sng" w="15300">
            <a:solidFill>
              <a:srgbClr val="406EE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3" name="Google Shape;303;p22"/>
          <p:cNvSpPr/>
          <p:nvPr/>
        </p:nvSpPr>
        <p:spPr>
          <a:xfrm>
            <a:off x="1760079" y="3803147"/>
            <a:ext cx="2434800" cy="7788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8750">
            <a:solidFill>
              <a:srgbClr val="E8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1760079" y="3803147"/>
            <a:ext cx="2434800" cy="299700"/>
          </a:xfrm>
          <a:prstGeom prst="roundRect">
            <a:avLst>
              <a:gd fmla="val 7000" name="adj"/>
            </a:avLst>
          </a:prstGeom>
          <a:solidFill>
            <a:srgbClr val="406EE5"/>
          </a:solidFill>
          <a:ln>
            <a:noFill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1825215" y="3799078"/>
            <a:ext cx="2160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64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Providers</a:t>
            </a:r>
            <a:endParaRPr sz="964"/>
          </a:p>
        </p:txBody>
      </p:sp>
      <p:sp>
        <p:nvSpPr>
          <p:cNvPr id="306" name="Google Shape;306;p22"/>
          <p:cNvSpPr txBox="1"/>
          <p:nvPr/>
        </p:nvSpPr>
        <p:spPr>
          <a:xfrm>
            <a:off x="1910959" y="4174666"/>
            <a:ext cx="21330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23" u="none" cap="none" strike="noStrike">
                <a:solidFill>
                  <a:srgbClr val="406EE5"/>
                </a:solidFill>
                <a:latin typeface="Calibri"/>
                <a:ea typeface="Calibri"/>
                <a:cs typeface="Calibri"/>
                <a:sym typeface="Calibri"/>
              </a:rPr>
              <a:t>HuggingFace BLIP · EasyOCR</a:t>
            </a:r>
            <a:endParaRPr sz="964">
              <a:solidFill>
                <a:srgbClr val="406E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1910959" y="4366418"/>
            <a:ext cx="21330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6E6680"/>
                </a:solidFill>
                <a:latin typeface="Calibri"/>
                <a:ea typeface="Calibri"/>
                <a:cs typeface="Calibri"/>
                <a:sym typeface="Calibri"/>
              </a:rPr>
              <a:t>Image captioning + OCR fallback, opt-in only.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4949136" y="3803147"/>
            <a:ext cx="2434800" cy="7788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8750">
            <a:solidFill>
              <a:srgbClr val="E8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4949136" y="3803147"/>
            <a:ext cx="2434800" cy="299700"/>
          </a:xfrm>
          <a:prstGeom prst="roundRect">
            <a:avLst>
              <a:gd fmla="val 7000" name="adj"/>
            </a:avLst>
          </a:prstGeom>
          <a:solidFill>
            <a:srgbClr val="406EE5"/>
          </a:solidFill>
          <a:ln>
            <a:noFill/>
          </a:ln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3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5031373" y="3807079"/>
            <a:ext cx="1764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64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MongoDB</a:t>
            </a:r>
            <a:endParaRPr sz="964"/>
          </a:p>
        </p:txBody>
      </p:sp>
      <p:sp>
        <p:nvSpPr>
          <p:cNvPr id="311" name="Google Shape;311;p22"/>
          <p:cNvSpPr txBox="1"/>
          <p:nvPr/>
        </p:nvSpPr>
        <p:spPr>
          <a:xfrm>
            <a:off x="5100016" y="4174666"/>
            <a:ext cx="21330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23" u="none" cap="none" strike="noStrike">
                <a:solidFill>
                  <a:srgbClr val="406EE5"/>
                </a:solidFill>
                <a:latin typeface="Calibri"/>
                <a:ea typeface="Calibri"/>
                <a:cs typeface="Calibri"/>
                <a:sym typeface="Calibri"/>
              </a:rPr>
              <a:t>pymongo</a:t>
            </a:r>
            <a:endParaRPr sz="964">
              <a:solidFill>
                <a:srgbClr val="406E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5100016" y="4366418"/>
            <a:ext cx="2133000" cy="1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6E6680"/>
                </a:solidFill>
                <a:latin typeface="Calibri"/>
                <a:ea typeface="Calibri"/>
                <a:cs typeface="Calibri"/>
                <a:sym typeface="Calibri"/>
              </a:rPr>
              <a:t>Stores authenticated users via JWT sessions.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22"/>
          <p:cNvCxnSpPr/>
          <p:nvPr/>
        </p:nvCxnSpPr>
        <p:spPr>
          <a:xfrm flipH="1">
            <a:off x="2976726" y="3503534"/>
            <a:ext cx="875100" cy="299700"/>
          </a:xfrm>
          <a:prstGeom prst="bentConnector3">
            <a:avLst>
              <a:gd fmla="val 50000" name="adj1"/>
            </a:avLst>
          </a:prstGeom>
          <a:noFill/>
          <a:ln cap="flat" cmpd="sng" w="15300">
            <a:solidFill>
              <a:srgbClr val="406EE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" name="Google Shape;314;p22"/>
          <p:cNvCxnSpPr/>
          <p:nvPr/>
        </p:nvCxnSpPr>
        <p:spPr>
          <a:xfrm>
            <a:off x="5292046" y="3503534"/>
            <a:ext cx="875100" cy="299700"/>
          </a:xfrm>
          <a:prstGeom prst="bentConnector3">
            <a:avLst>
              <a:gd fmla="val 50000" name="adj1"/>
            </a:avLst>
          </a:prstGeom>
          <a:noFill/>
          <a:ln cap="flat" cmpd="sng" w="15300">
            <a:solidFill>
              <a:srgbClr val="406EE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5" name="Google Shape;315;p22"/>
          <p:cNvSpPr/>
          <p:nvPr/>
        </p:nvSpPr>
        <p:spPr>
          <a:xfrm>
            <a:off x="342909" y="609651"/>
            <a:ext cx="58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Three modules, one privacy boundary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342909" y="379270"/>
            <a:ext cx="2743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6EE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06EE5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"/>
          <p:cNvSpPr/>
          <p:nvPr/>
        </p:nvSpPr>
        <p:spPr>
          <a:xfrm>
            <a:off x="342909" y="308610"/>
            <a:ext cx="2743273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6EE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406EE5"/>
                </a:solidFill>
                <a:latin typeface="Calibri"/>
                <a:ea typeface="Calibri"/>
                <a:cs typeface="Calibri"/>
                <a:sym typeface="Calibri"/>
              </a:rPr>
              <a:t>PRINCIPLES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342909" y="548640"/>
            <a:ext cx="58294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Privacy and security, by design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342909" y="1474470"/>
            <a:ext cx="8458197" cy="2640330"/>
          </a:xfrm>
          <a:prstGeom prst="roundRect">
            <a:avLst>
              <a:gd fmla="val 3117" name="adj"/>
            </a:avLst>
          </a:prstGeom>
          <a:solidFill>
            <a:schemeClr val="lt1"/>
          </a:solidFill>
          <a:ln cap="flat" cmpd="sng" w="12700">
            <a:solidFill>
              <a:srgbClr val="F7F9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5" name="Google Shape;325;p23"/>
          <p:cNvCxnSpPr/>
          <p:nvPr/>
        </p:nvCxnSpPr>
        <p:spPr>
          <a:xfrm>
            <a:off x="2457459" y="1783080"/>
            <a:ext cx="0" cy="2023110"/>
          </a:xfrm>
          <a:prstGeom prst="straightConnector1">
            <a:avLst/>
          </a:prstGeom>
          <a:noFill/>
          <a:ln cap="flat" cmpd="sng" w="12700">
            <a:solidFill>
              <a:srgbClr val="D7DE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23"/>
          <p:cNvCxnSpPr/>
          <p:nvPr/>
        </p:nvCxnSpPr>
        <p:spPr>
          <a:xfrm>
            <a:off x="4572008" y="1783080"/>
            <a:ext cx="0" cy="2023110"/>
          </a:xfrm>
          <a:prstGeom prst="straightConnector1">
            <a:avLst/>
          </a:prstGeom>
          <a:noFill/>
          <a:ln cap="flat" cmpd="sng" w="12700">
            <a:solidFill>
              <a:srgbClr val="D7DE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23"/>
          <p:cNvCxnSpPr/>
          <p:nvPr/>
        </p:nvCxnSpPr>
        <p:spPr>
          <a:xfrm>
            <a:off x="6686556" y="1783080"/>
            <a:ext cx="0" cy="2023110"/>
          </a:xfrm>
          <a:prstGeom prst="straightConnector1">
            <a:avLst/>
          </a:prstGeom>
          <a:noFill/>
          <a:ln cap="flat" cmpd="sng" w="12700">
            <a:solidFill>
              <a:srgbClr val="D7DE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23"/>
          <p:cNvSpPr/>
          <p:nvPr/>
        </p:nvSpPr>
        <p:spPr>
          <a:xfrm>
            <a:off x="1160147" y="1783080"/>
            <a:ext cx="480073" cy="480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3"/>
          <p:cNvSpPr/>
          <p:nvPr/>
        </p:nvSpPr>
        <p:spPr>
          <a:xfrm>
            <a:off x="1160147" y="1783080"/>
            <a:ext cx="48007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480073" y="2400300"/>
            <a:ext cx="1840222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Local-first by default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548655" y="2880360"/>
            <a:ext cx="17030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Every shipped feature today runs entirely on-device — no data leaves the browser.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3274697" y="1783080"/>
            <a:ext cx="480073" cy="480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3274697" y="1783080"/>
            <a:ext cx="48007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☁️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2594622" y="2400300"/>
            <a:ext cx="1840222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Optional cloud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2663204" y="2880360"/>
            <a:ext cx="17030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Image labeling and OCR are opt-in and proxied through our backend, never called directly.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5389246" y="1783080"/>
            <a:ext cx="480073" cy="480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5389246" y="1783080"/>
            <a:ext cx="48007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4709172" y="2400300"/>
            <a:ext cx="1840222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No hidden tracking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4777753" y="2880360"/>
            <a:ext cx="17030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No tracking of browsing content, ever — this is an assistive tool, not a data product.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7503795" y="1783080"/>
            <a:ext cx="480073" cy="4800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7503795" y="1783080"/>
            <a:ext cx="48007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6823720" y="2400300"/>
            <a:ext cx="1840222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3203B"/>
                </a:solidFill>
                <a:latin typeface="Arial"/>
                <a:ea typeface="Arial"/>
                <a:cs typeface="Arial"/>
                <a:sym typeface="Arial"/>
              </a:rPr>
              <a:t>Secure API key handling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6892302" y="2880360"/>
            <a:ext cx="170305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Third-party keys stay server-side in the backend, never bundled into the extension.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342909" y="4896612"/>
            <a:ext cx="20574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NeuroAccess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7772378" y="4896612"/>
            <a:ext cx="102872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09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4" title="ChatGPT Image Jul 19, 2026, 11_58_3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300" y="423333"/>
            <a:ext cx="3181376" cy="318137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4"/>
          <p:cNvSpPr/>
          <p:nvPr/>
        </p:nvSpPr>
        <p:spPr>
          <a:xfrm>
            <a:off x="13217" y="3526672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B"/>
              </a:buClr>
              <a:buSzPts val="3300"/>
              <a:buFont typeface="Arial"/>
              <a:buNone/>
            </a:pPr>
            <a:r>
              <a:rPr b="1" i="0" lang="en" sz="6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i="0" sz="66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342909" y="4896612"/>
            <a:ext cx="20574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NeuroAccess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7772378" y="4896612"/>
            <a:ext cx="102872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87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A6487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